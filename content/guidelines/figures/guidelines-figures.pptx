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52394056e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52394056e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6500" y="343425"/>
            <a:ext cx="4187700" cy="3663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Organize data and metadata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55" name="Google Shape;55;p13"/>
          <p:cNvCxnSpPr>
            <a:endCxn id="56" idx="1"/>
          </p:cNvCxnSpPr>
          <p:nvPr/>
        </p:nvCxnSpPr>
        <p:spPr>
          <a:xfrm flipH="1" rot="-5400000">
            <a:off x="226475" y="1686750"/>
            <a:ext cx="739800" cy="570000"/>
          </a:xfrm>
          <a:prstGeom prst="bentConnector2">
            <a:avLst/>
          </a:prstGeom>
          <a:noFill/>
          <a:ln cap="flat" cmpd="sng" w="38100">
            <a:solidFill>
              <a:srgbClr val="3D85C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" name="Google Shape;57;p13"/>
          <p:cNvSpPr/>
          <p:nvPr/>
        </p:nvSpPr>
        <p:spPr>
          <a:xfrm>
            <a:off x="1676125" y="3030450"/>
            <a:ext cx="2474400" cy="8739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Data Format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Map data to storage (e.g, within a file)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Use case:</a:t>
            </a:r>
            <a:r>
              <a:rPr lang="en" sz="800">
                <a:solidFill>
                  <a:schemeClr val="lt1"/>
                </a:solidFill>
              </a:rPr>
              <a:t> Serialize generic types of data, e.g., tables, dictionaries, arrays, and/or data hierarchies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HDF5, Zarr, CSV, TIFF, PNG etc</a:t>
            </a:r>
            <a:endParaRPr sz="800">
              <a:solidFill>
                <a:schemeClr val="lt1"/>
              </a:solidFill>
            </a:endParaRPr>
          </a:p>
        </p:txBody>
      </p:sp>
      <p:cxnSp>
        <p:nvCxnSpPr>
          <p:cNvPr id="58" name="Google Shape;58;p13"/>
          <p:cNvCxnSpPr>
            <a:endCxn id="57" idx="1"/>
          </p:cNvCxnSpPr>
          <p:nvPr/>
        </p:nvCxnSpPr>
        <p:spPr>
          <a:xfrm flipH="1" rot="-5400000">
            <a:off x="1019125" y="2810400"/>
            <a:ext cx="716100" cy="597900"/>
          </a:xfrm>
          <a:prstGeom prst="bentConnector2">
            <a:avLst/>
          </a:prstGeom>
          <a:noFill/>
          <a:ln cap="flat" cmpd="sng" w="3810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" name="Google Shape;59;p13"/>
          <p:cNvSpPr/>
          <p:nvPr/>
        </p:nvSpPr>
        <p:spPr>
          <a:xfrm>
            <a:off x="4278725" y="343450"/>
            <a:ext cx="2332500" cy="3663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</a:t>
            </a:r>
            <a:r>
              <a:rPr b="1" lang="en" sz="1300">
                <a:solidFill>
                  <a:schemeClr val="dk1"/>
                </a:solidFill>
              </a:rPr>
              <a:t>escribe data standards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360375" y="812325"/>
            <a:ext cx="2182500" cy="1529400"/>
          </a:xfrm>
          <a:prstGeom prst="rect">
            <a:avLst/>
          </a:prstGeom>
          <a:solidFill>
            <a:srgbClr val="674EA7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Data Schema 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D</a:t>
            </a:r>
            <a:r>
              <a:rPr lang="en" sz="800">
                <a:solidFill>
                  <a:schemeClr val="lt1"/>
                </a:solidFill>
              </a:rPr>
              <a:t>escribe the structure, constraints, and validation rules for data standards. They define how data should be organized and what types of values are expected.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Use case:</a:t>
            </a:r>
            <a:r>
              <a:rPr lang="en" sz="800">
                <a:solidFill>
                  <a:schemeClr val="lt1"/>
                </a:solidFill>
              </a:rPr>
              <a:t> Formally define data standards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NWB Schema, BIDS schema, PsychDS schema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360375" y="2716625"/>
            <a:ext cx="2182500" cy="11877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Data Schema Languages 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Provide a formal language for describing the structure, constraints, and validation rules for data formats. 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Use case:</a:t>
            </a:r>
            <a:r>
              <a:rPr lang="en" sz="800">
                <a:solidFill>
                  <a:schemeClr val="lt1"/>
                </a:solidFill>
              </a:rPr>
              <a:t> Formally define data schema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LinkML, HDMF, JSON Schema, XML Schema (XSD).</a:t>
            </a:r>
            <a:endParaRPr sz="800">
              <a:solidFill>
                <a:schemeClr val="lt1"/>
              </a:solidFill>
            </a:endParaRPr>
          </a:p>
        </p:txBody>
      </p:sp>
      <p:cxnSp>
        <p:nvCxnSpPr>
          <p:cNvPr id="62" name="Google Shape;62;p13"/>
          <p:cNvCxnSpPr>
            <a:stCxn id="61" idx="0"/>
            <a:endCxn id="60" idx="2"/>
          </p:cNvCxnSpPr>
          <p:nvPr/>
        </p:nvCxnSpPr>
        <p:spPr>
          <a:xfrm rot="-5400000">
            <a:off x="5264425" y="2528825"/>
            <a:ext cx="375000" cy="600"/>
          </a:xfrm>
          <a:prstGeom prst="bentConnector3">
            <a:avLst>
              <a:gd fmla="val 49987" name="adj1"/>
            </a:avLst>
          </a:prstGeom>
          <a:noFill/>
          <a:ln cap="flat" cmpd="sng" w="19050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3"/>
          <p:cNvSpPr/>
          <p:nvPr/>
        </p:nvSpPr>
        <p:spPr>
          <a:xfrm>
            <a:off x="139575" y="778950"/>
            <a:ext cx="2649900" cy="8739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Dataset Organization Standard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Organize and describe collections of files stored using accepted data standards and formats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Use case:</a:t>
            </a:r>
            <a:r>
              <a:rPr lang="en" sz="800">
                <a:solidFill>
                  <a:schemeClr val="lt1"/>
                </a:solidFill>
              </a:rPr>
              <a:t> Organize data from a full experiment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BIDS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81375" y="1902750"/>
            <a:ext cx="2880300" cy="877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Data Standard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O</a:t>
            </a:r>
            <a:r>
              <a:rPr lang="en" sz="800">
                <a:solidFill>
                  <a:schemeClr val="lt1"/>
                </a:solidFill>
              </a:rPr>
              <a:t>rganize data and metadata using primitives (e.g., arrays, tables, etc.) supported by data formats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Use case:</a:t>
            </a:r>
            <a:r>
              <a:rPr lang="en" sz="800">
                <a:solidFill>
                  <a:schemeClr val="lt1"/>
                </a:solidFill>
              </a:rPr>
              <a:t> Organize data from a single session or modality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NWB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655750" y="343425"/>
            <a:ext cx="2363400" cy="36633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Define meaning of terms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737400" y="812300"/>
            <a:ext cx="2219400" cy="1529400"/>
          </a:xfrm>
          <a:prstGeom prst="rect">
            <a:avLst/>
          </a:prstGeom>
          <a:solidFill>
            <a:srgbClr val="134F5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Terminologies &amp; Ontologies</a:t>
            </a:r>
            <a:r>
              <a:rPr b="1" lang="en" sz="1300">
                <a:solidFill>
                  <a:schemeClr val="lt1"/>
                </a:solidFill>
              </a:rPr>
              <a:t> 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 </a:t>
            </a:r>
            <a:r>
              <a:rPr lang="en" sz="800">
                <a:solidFill>
                  <a:schemeClr val="lt1"/>
                </a:solidFill>
              </a:rPr>
              <a:t>Define terms and represent knowledge about a domain, including the relationships between concepts, entities, and their attributes. They provide a formal framework for defining and reasoning about the meaning of terms.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NCBI Taxonomy brain atlases, GO 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6737400" y="2716600"/>
            <a:ext cx="2219400" cy="1187700"/>
          </a:xfrm>
          <a:prstGeom prst="rect">
            <a:avLst/>
          </a:prstGeom>
          <a:solidFill>
            <a:srgbClr val="0C343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</a:rPr>
              <a:t>Ontology Schema</a:t>
            </a:r>
            <a:r>
              <a:rPr b="1" lang="en" sz="1300">
                <a:solidFill>
                  <a:schemeClr val="lt1"/>
                </a:solidFill>
              </a:rPr>
              <a:t> Languages </a:t>
            </a:r>
            <a:endParaRPr b="1"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Problem:</a:t>
            </a:r>
            <a:r>
              <a:rPr lang="en" sz="800">
                <a:solidFill>
                  <a:schemeClr val="lt1"/>
                </a:solidFill>
              </a:rPr>
              <a:t> Provide a formal language for representing knowledge, terms and their relationships.</a:t>
            </a:r>
            <a:endParaRPr sz="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</a:rPr>
              <a:t>Example:</a:t>
            </a:r>
            <a:r>
              <a:rPr lang="en" sz="800">
                <a:solidFill>
                  <a:schemeClr val="lt1"/>
                </a:solidFill>
              </a:rPr>
              <a:t> RDF, OWL, SHACL</a:t>
            </a:r>
            <a:endParaRPr sz="800">
              <a:solidFill>
                <a:schemeClr val="lt1"/>
              </a:solidFill>
            </a:endParaRPr>
          </a:p>
        </p:txBody>
      </p:sp>
      <p:cxnSp>
        <p:nvCxnSpPr>
          <p:cNvPr id="67" name="Google Shape;67;p13"/>
          <p:cNvCxnSpPr>
            <a:stCxn id="66" idx="0"/>
            <a:endCxn id="65" idx="2"/>
          </p:cNvCxnSpPr>
          <p:nvPr/>
        </p:nvCxnSpPr>
        <p:spPr>
          <a:xfrm rot="-5400000">
            <a:off x="7659900" y="2528800"/>
            <a:ext cx="375000" cy="600"/>
          </a:xfrm>
          <a:prstGeom prst="bentConnector3">
            <a:avLst>
              <a:gd fmla="val 49987" name="adj1"/>
            </a:avLst>
          </a:prstGeom>
          <a:noFill/>
          <a:ln cap="flat" cmpd="sng" w="19050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4" idx="2"/>
            <a:endCxn id="59" idx="2"/>
          </p:cNvCxnSpPr>
          <p:nvPr/>
        </p:nvCxnSpPr>
        <p:spPr>
          <a:xfrm rot="5400000">
            <a:off x="6640900" y="2810775"/>
            <a:ext cx="600" cy="2392500"/>
          </a:xfrm>
          <a:prstGeom prst="bentConnector3">
            <a:avLst>
              <a:gd fmla="val 54458333" name="adj1"/>
            </a:avLst>
          </a:prstGeom>
          <a:noFill/>
          <a:ln cap="flat" cmpd="sng" w="28575">
            <a:solidFill>
              <a:srgbClr val="134F5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 txBox="1"/>
          <p:nvPr/>
        </p:nvSpPr>
        <p:spPr>
          <a:xfrm>
            <a:off x="5452225" y="4279850"/>
            <a:ext cx="236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34F5C"/>
                </a:solidFill>
              </a:rPr>
              <a:t>Use ontologies and terminologies to define the meaning and valid contents of data objects</a:t>
            </a:r>
            <a:endParaRPr sz="1000">
              <a:solidFill>
                <a:srgbClr val="134F5C"/>
              </a:solidFill>
            </a:endParaRPr>
          </a:p>
        </p:txBody>
      </p:sp>
      <p:cxnSp>
        <p:nvCxnSpPr>
          <p:cNvPr id="70" name="Google Shape;70;p13"/>
          <p:cNvCxnSpPr/>
          <p:nvPr/>
        </p:nvCxnSpPr>
        <p:spPr>
          <a:xfrm rot="5400000">
            <a:off x="3965550" y="2810775"/>
            <a:ext cx="600" cy="2392500"/>
          </a:xfrm>
          <a:prstGeom prst="bentConnector3">
            <a:avLst>
              <a:gd fmla="val 54458333" name="adj1"/>
            </a:avLst>
          </a:prstGeom>
          <a:noFill/>
          <a:ln cap="flat" cmpd="sng" w="28575">
            <a:solidFill>
              <a:srgbClr val="351C7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" name="Google Shape;71;p13"/>
          <p:cNvSpPr txBox="1"/>
          <p:nvPr/>
        </p:nvSpPr>
        <p:spPr>
          <a:xfrm>
            <a:off x="2769600" y="4279225"/>
            <a:ext cx="236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1C75"/>
                </a:solidFill>
              </a:rPr>
              <a:t>Use data schema to formally and define data standards and rigorously validate data</a:t>
            </a:r>
            <a:endParaRPr sz="10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